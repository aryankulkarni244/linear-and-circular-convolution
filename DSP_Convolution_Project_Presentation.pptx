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solidFill>
            <a:srgbClr val="11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-228600"/>
            <a:ext cx="1371600" cy="137160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7160"/>
            <a:ext cx="594360" cy="59436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20040"/>
            <a:ext cx="530352" cy="5486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"/>
            <a:ext cx="10241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Linear vs Circular Convolution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786384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"/>
              </a:defRPr>
            </a:pPr>
            <a:r>
              <a:t>LINEAR  ×  CIRCULAR</a:t>
            </a:r>
            <a:br/>
            <a:r>
              <a:t>CONVOLUTION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72237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00D7E6"/>
                </a:solidFill>
                <a:latin typeface="Aptos"/>
              </a:defRPr>
            </a:pPr>
            <a:r>
              <a:t>Understanding FFT length, zero-padding and output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69080"/>
            <a:ext cx="5303520" cy="22860"/>
          </a:xfrm>
          <a:prstGeom prst="rect">
            <a:avLst/>
          </a:prstGeom>
          <a:solidFill>
            <a:srgbClr val="AEB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"/>
              </a:defRPr>
            </a:pPr>
            <a:r>
              <a:t>ARYAN KULKARNI  •  ECE–AIML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71323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AEBED6"/>
                </a:solidFill>
                <a:latin typeface="Aptos"/>
              </a:defRPr>
            </a:pPr>
            <a:r>
              <a:t>DES Pune University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739896"/>
            <a:ext cx="22860" cy="192024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9460" y="3970957"/>
            <a:ext cx="22860" cy="39420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4095758"/>
            <a:ext cx="22860" cy="503403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46620" y="4081854"/>
            <a:ext cx="22860" cy="491237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988359"/>
            <a:ext cx="22860" cy="40942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83779" y="3914738"/>
            <a:ext cx="22860" cy="34501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920853"/>
            <a:ext cx="22860" cy="350361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20940" y="3980377"/>
            <a:ext cx="22860" cy="402445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003603"/>
            <a:ext cx="22860" cy="4227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58100" y="3911753"/>
            <a:ext cx="22860" cy="34239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3704795"/>
            <a:ext cx="22860" cy="161311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5260" y="3469600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3321189"/>
            <a:ext cx="22860" cy="17434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2420" y="3321512"/>
            <a:ext cx="22860" cy="174061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437624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9579" y="3570880"/>
            <a:ext cx="22860" cy="73152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634162"/>
            <a:ext cx="22860" cy="99507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6740" y="3617369"/>
            <a:ext cx="22860" cy="8481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3590775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43900" y="3644188"/>
            <a:ext cx="22860" cy="10827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3809636"/>
            <a:ext cx="22860" cy="253046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81060" y="4028238"/>
            <a:ext cx="22860" cy="444323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9640" y="4187798"/>
            <a:ext cx="22860" cy="58393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18220" y="4202986"/>
            <a:ext cx="22860" cy="5972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0" y="4076917"/>
            <a:ext cx="22860" cy="486917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55380" y="3897041"/>
            <a:ext cx="22860" cy="329526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23960" y="3768728"/>
            <a:ext cx="22860" cy="2172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92540" y="3737713"/>
            <a:ext cx="22860" cy="19011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3760877"/>
            <a:ext cx="22860" cy="21038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9700" y="3747238"/>
            <a:ext cx="22860" cy="19844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98280" y="3636601"/>
            <a:ext cx="22860" cy="101641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66860" y="3454162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3297937"/>
            <a:ext cx="22860" cy="19468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04020" y="3267965"/>
            <a:ext cx="22860" cy="220915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3391387"/>
            <a:ext cx="22860" cy="112921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41180" y="3601022"/>
            <a:ext cx="22860" cy="73152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9760" y="3784045"/>
            <a:ext cx="22860" cy="23065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78340" y="3863515"/>
            <a:ext cx="22860" cy="30019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46920" y="3850440"/>
            <a:ext cx="22860" cy="28875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15500" y="3826982"/>
            <a:ext cx="22860" cy="26822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3874733"/>
            <a:ext cx="22860" cy="310007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52660" y="4004424"/>
            <a:ext cx="22860" cy="423486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21240" y="4142176"/>
            <a:ext cx="22860" cy="54401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89820" y="4183566"/>
            <a:ext cx="22860" cy="580236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400" y="4074064"/>
            <a:ext cx="22860" cy="484421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26980" y="3853740"/>
            <a:ext cx="22860" cy="291637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95560" y="3631407"/>
            <a:ext cx="22860" cy="97096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64140" y="3507593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32720" y="3505033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401300" y="3559457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69880" y="3576822"/>
            <a:ext cx="22860" cy="73152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38460" y="3511915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07040" y="3406923"/>
            <a:ext cx="22860" cy="99327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75620" y="3359749"/>
            <a:ext cx="22860" cy="14060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44200" y="3446464"/>
            <a:ext cx="22860" cy="73152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12780" y="3658001"/>
            <a:ext cx="22860" cy="120366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81360" y="3900527"/>
            <a:ext cx="22860" cy="332576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49940" y="4059967"/>
            <a:ext cx="22860" cy="472086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018520" y="4081735"/>
            <a:ext cx="22860" cy="491133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87100" y="4005052"/>
            <a:ext cx="22860" cy="424035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55680" y="3926230"/>
            <a:ext cx="22860" cy="355066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224260" y="3920027"/>
            <a:ext cx="22860" cy="349639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5120640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AEBED6"/>
                </a:solidFill>
                <a:latin typeface="Aptos"/>
              </a:defRPr>
            </a:pPr>
            <a:r>
              <a:t>DSP  /  SIGNALS  /  SYSTEMS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EBED6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00D7E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Compare direct linear and FFT-based circular convolution.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Show wraparound error from insufficient FFT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Determine minimum padding required for an accurate linear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Compare execution times for different input lengths.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Theory: Zero-Padding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Full linear-convolution length = Lx + Lh − 1.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Lx = 64 and Lh = 5, so required output length = 68.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FFT multiplication naturally produces circular convolution.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Choose N ≥ 68 and zero-pad to recover the full linear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Signals &amp;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Input: two combined sinusoids, 64 samples.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Impulse response: [1.0, 0.5, 0.25, −0.1, 0.05].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Reference: NumPy direct linear convolution.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FFT lengths tested: 64, 68, 79, 96 and 128.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62856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62856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663440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Runtime input lengths: 64, 256, 1,024 and 4,096; second sequence length 31.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solidFill>
            <a:srgbClr val="11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-228600"/>
            <a:ext cx="1371600" cy="137160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7160"/>
            <a:ext cx="594360" cy="59436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20040"/>
            <a:ext cx="530352" cy="5486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"/>
            <a:ext cx="10241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Linear vs Circular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48006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07" y="1554480"/>
            <a:ext cx="9292281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EBED6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00D7E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Error Metrics &amp; Zero-Padding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N=64: MSE 0.0006708; RMSE 0.0259005; maximum error 0.2061794.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N=68: RMSE ≈ 2.69 × 10⁻¹⁶; effectively equal to the direct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N=79, 96 and 128 also matched to numerical precision.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Minimum sufficient FFT length for this case: 68.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solidFill>
            <a:srgbClr val="11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-228600"/>
            <a:ext cx="1371600" cy="137160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7160"/>
            <a:ext cx="594360" cy="59436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20040"/>
            <a:ext cx="530352" cy="5486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"/>
            <a:ext cx="10241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Zero-Padded FFT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48006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07" y="1554480"/>
            <a:ext cx="9292281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EBED6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00D7E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solidFill>
            <a:srgbClr val="11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-228600"/>
            <a:ext cx="1371600" cy="137160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7160"/>
            <a:ext cx="594360" cy="59436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20040"/>
            <a:ext cx="530352" cy="5486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"/>
            <a:ext cx="10241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Effect of FFT 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48006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07" y="1554480"/>
            <a:ext cx="9292281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EBED6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00D7E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solidFill>
            <a:srgbClr val="11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-228600"/>
            <a:ext cx="1371600" cy="137160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8832" y="137160"/>
            <a:ext cx="594360" cy="59436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320040"/>
            <a:ext cx="530352" cy="54864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84632"/>
            <a:ext cx="10241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Runtime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27080" cy="48006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07" y="1554480"/>
            <a:ext cx="9292281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AEBED6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00D7E6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Runtime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Input 64: direct 0.02306 ms; FFT 0.16745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Input 4,096: direct 0.09216 ms; FFT 0.14390 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Direct convolution was faster in this specific run at all tested lengths.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Timing depends on hardware and implementation; results are not universal.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6984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700" b="1">
                <a:solidFill>
                  <a:srgbClr val="121E34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21E34"/>
                </a:solidFill>
                <a:latin typeface="Aptos"/>
              </a:defRPr>
            </a:pPr>
            <a:r>
              <a:t>Insufficient FFT length causes circular wraparound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03704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03704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04288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Padding to 68 samples reproduces the full linear result to numerical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90088"/>
            <a:ext cx="73152" cy="658368"/>
          </a:xfrm>
          <a:prstGeom prst="rect">
            <a:avLst/>
          </a:prstGeom>
          <a:solidFill>
            <a:srgbClr val="0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06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FFT methods are not automatically faster for short/moderate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76472"/>
            <a:ext cx="10698480" cy="658368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73152" cy="658368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77056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121E34"/>
                </a:solidFill>
                <a:latin typeface="Aptos"/>
              </a:defRPr>
            </a:pPr>
            <a:r>
              <a:t>References: Oppenheim &amp; Schafer (2010); Cooley &amp; Tukey (1965); SciPy and NumPy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64758C"/>
                </a:solidFill>
                <a:latin typeface="Aptos"/>
              </a:defRPr>
            </a:pPr>
            <a:r>
              <a:t>DSP MINI-PROJECT  /  ECE–AIML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000" b="1">
                <a:solidFill>
                  <a:srgbClr val="2C66D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